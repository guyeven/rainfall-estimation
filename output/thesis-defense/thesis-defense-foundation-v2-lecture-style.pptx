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5b480375a4170" /><Relationship Type="http://schemas.openxmlformats.org/officeDocument/2006/relationships/extended-properties" Target="/docProps/app.xml" Id="R910faff0a76047d5" /><Relationship Type="http://schemas.openxmlformats.org/officeDocument/2006/relationships/officeDocument" Target="/ppt/presentation.xml" Id="R773fbbe2d687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6aa611ee694fa6"/>
  </p:sldMasterIdLst>
  <p:notesMasterIdLst>
    <p:notesMasterId xmlns:r="http://schemas.openxmlformats.org/officeDocument/2006/relationships" r:id="R9efdc2f6f3f443f7"/>
  </p:notesMasterIdLst>
  <p:sldIdLst>
    <p:sldId xmlns:r="http://schemas.openxmlformats.org/officeDocument/2006/relationships" id="256" r:id="Rc1eef706562540ec"/>
    <p:sldId xmlns:r="http://schemas.openxmlformats.org/officeDocument/2006/relationships" id="257" r:id="R29e7a1f4d2b74c87"/>
    <p:sldId xmlns:r="http://schemas.openxmlformats.org/officeDocument/2006/relationships" id="258" r:id="R88cbde41f9ae4ba7"/>
    <p:sldId xmlns:r="http://schemas.openxmlformats.org/officeDocument/2006/relationships" id="259" r:id="Rfa34edb9d8484b33"/>
    <p:sldId xmlns:r="http://schemas.openxmlformats.org/officeDocument/2006/relationships" id="260" r:id="Re485529814594ced"/>
    <p:sldId xmlns:r="http://schemas.openxmlformats.org/officeDocument/2006/relationships" id="261" r:id="Rd4f7adec1c5b43a8"/>
    <p:sldId xmlns:r="http://schemas.openxmlformats.org/officeDocument/2006/relationships" id="262" r:id="R040002cd03d74f2c"/>
    <p:sldId xmlns:r="http://schemas.openxmlformats.org/officeDocument/2006/relationships" id="263" r:id="R36c68de5179b499e"/>
    <p:sldId xmlns:r="http://schemas.openxmlformats.org/officeDocument/2006/relationships" id="264" r:id="R520679d750954c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7b80d61edd41fb" /><Relationship Type="http://schemas.openxmlformats.org/officeDocument/2006/relationships/slideMaster" Target="/ppt/slideMasters/slideMaster1.xml" Id="Rc66aa611ee694fa6" /><Relationship Type="http://schemas.openxmlformats.org/officeDocument/2006/relationships/notesMaster" Target="/ppt/notesMasters/notesMaster1.xml" Id="R9efdc2f6f3f443f7" /><Relationship Type="http://schemas.openxmlformats.org/officeDocument/2006/relationships/presProps" Target="/ppt/presProps.xml" Id="R8f8efe5251d54467" /><Relationship Type="http://schemas.openxmlformats.org/officeDocument/2006/relationships/tableStyles" Target="/ppt/tableStyles.xml" Id="R9bd54bafd2254360" /><Relationship Type="http://schemas.openxmlformats.org/officeDocument/2006/relationships/slide" Target="/ppt/slides/slide1.xml" Id="Rc1eef706562540ec" /><Relationship Type="http://schemas.openxmlformats.org/officeDocument/2006/relationships/slide" Target="/ppt/slides/slide2.xml" Id="R29e7a1f4d2b74c87" /><Relationship Type="http://schemas.openxmlformats.org/officeDocument/2006/relationships/slide" Target="/ppt/slides/slide3.xml" Id="R88cbde41f9ae4ba7" /><Relationship Type="http://schemas.openxmlformats.org/officeDocument/2006/relationships/slide" Target="/ppt/slides/slide4.xml" Id="Rfa34edb9d8484b33" /><Relationship Type="http://schemas.openxmlformats.org/officeDocument/2006/relationships/slide" Target="/ppt/slides/slide5.xml" Id="Re485529814594ced" /><Relationship Type="http://schemas.openxmlformats.org/officeDocument/2006/relationships/slide" Target="/ppt/slides/slide6.xml" Id="Rd4f7adec1c5b43a8" /><Relationship Type="http://schemas.openxmlformats.org/officeDocument/2006/relationships/slide" Target="/ppt/slides/slide7.xml" Id="R040002cd03d74f2c" /><Relationship Type="http://schemas.openxmlformats.org/officeDocument/2006/relationships/slide" Target="/ppt/slides/slide8.xml" Id="R36c68de5179b499e" /><Relationship Type="http://schemas.openxmlformats.org/officeDocument/2006/relationships/slide" Target="/ppt/slides/slide9.xml" Id="R520679d750954c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59a838a3784c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a005299f6f4126" /><Relationship Type="http://schemas.openxmlformats.org/officeDocument/2006/relationships/notesMaster" Target="/ppt/notesMasters/notesMaster1.xml" Id="R99e9ad68b2b9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e05b8256846d8" /><Relationship Type="http://schemas.openxmlformats.org/officeDocument/2006/relationships/notesMaster" Target="/ppt/notesMasters/notesMaster1.xml" Id="R9c39fdde802047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0fe3a0f0a54a19" /><Relationship Type="http://schemas.openxmlformats.org/officeDocument/2006/relationships/notesMaster" Target="/ppt/notesMasters/notesMaster1.xml" Id="R61417b2da3e24f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a7658dbf004b01" /><Relationship Type="http://schemas.openxmlformats.org/officeDocument/2006/relationships/notesMaster" Target="/ppt/notesMasters/notesMaster1.xml" Id="R5a68dfeddf2541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e1ee57bf10480e" /><Relationship Type="http://schemas.openxmlformats.org/officeDocument/2006/relationships/notesMaster" Target="/ppt/notesMasters/notesMaster1.xml" Id="Raf69675ea57448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83a2d59c1b4f74" /><Relationship Type="http://schemas.openxmlformats.org/officeDocument/2006/relationships/notesMaster" Target="/ppt/notesMasters/notesMaster1.xml" Id="R061bfb91211440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f05215d2f3456f" /><Relationship Type="http://schemas.openxmlformats.org/officeDocument/2006/relationships/notesMaster" Target="/ppt/notesMasters/notesMaster1.xml" Id="Rceefa63bc17e4b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6ad9c8733849a0" /><Relationship Type="http://schemas.openxmlformats.org/officeDocument/2006/relationships/notesMaster" Target="/ppt/notesMasters/notesMaster1.xml" Id="R0c6ef16475fc43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83fb8fd9e04088" /><Relationship Type="http://schemas.openxmlformats.org/officeDocument/2006/relationships/notesMaster" Target="/ppt/notesMasters/notesMaster1.xml" Id="R82c2d903c2b640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8a6b9af134a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695769a824c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2a3a2fb3848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f9524120043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73451015542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7e8c1c2ce4b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9692EB-8A7A-470E-AE71-7EAD78589F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C86023-43E4-4B72-B781-B92F02139F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4A802F-2806-4ED1-9627-BCEEFC6E1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508E1B-02F8-4A4A-8AB2-3801BBFA1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857346-01F7-4FB7-8C9D-1CEBDAB766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706352-72EA-4242-AC02-E0FCFE0A6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3F1FC7-7B70-41C7-99A5-0721ECD90A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36A35-A7AC-4298-B756-A6268BD9A5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DEF6B3-5731-45F1-B76C-5E3565A45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DB9CC8-61C4-4664-8CA2-73FCC6F5E1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d88b60a0ea4513" /><Relationship Type="http://schemas.openxmlformats.org/officeDocument/2006/relationships/slideLayout" Target="/ppt/slideLayouts/slideLayout1.xml" Id="R1c82b4485f084783" /><Relationship Type="http://schemas.openxmlformats.org/officeDocument/2006/relationships/slideLayout" Target="/ppt/slideLayouts/slideLayout2.xml" Id="R90de7988a7184810" /><Relationship Type="http://schemas.openxmlformats.org/officeDocument/2006/relationships/slideLayout" Target="/ppt/slideLayouts/slideLayout3.xml" Id="Rbf52454f94c44a5a" /><Relationship Type="http://schemas.openxmlformats.org/officeDocument/2006/relationships/slideLayout" Target="/ppt/slideLayouts/slideLayout4.xml" Id="R706bd3917f3c42ac" /><Relationship Type="http://schemas.openxmlformats.org/officeDocument/2006/relationships/slideLayout" Target="/ppt/slideLayouts/slideLayout5.xml" Id="R6dda3920b64149a6" /><Relationship Type="http://schemas.openxmlformats.org/officeDocument/2006/relationships/slideLayout" Target="/ppt/slideLayouts/slideLayout6.xml" Id="Ref5c5b55544e45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82b4485f084783"/>
    <p:sldLayoutId xmlns:r="http://schemas.openxmlformats.org/officeDocument/2006/relationships" id="2147483650" r:id="R90de7988a7184810"/>
    <p:sldLayoutId xmlns:r="http://schemas.openxmlformats.org/officeDocument/2006/relationships" id="2147483651" r:id="Rbf52454f94c44a5a"/>
    <p:sldLayoutId xmlns:r="http://schemas.openxmlformats.org/officeDocument/2006/relationships" id="2147483652" r:id="R706bd3917f3c42ac"/>
    <p:sldLayoutId xmlns:r="http://schemas.openxmlformats.org/officeDocument/2006/relationships" id="2147483653" r:id="R6dda3920b64149a6"/>
    <p:sldLayoutId xmlns:r="http://schemas.openxmlformats.org/officeDocument/2006/relationships" id="2147483654" r:id="Ref5c5b55544e45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24e813cfd452b" /><Relationship Type="http://schemas.openxmlformats.org/officeDocument/2006/relationships/notesSlide" Target="/ppt/notesSlides/notesSlide1.xml" Id="Ra20c7e3cf4c946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fba6abf0e4286" /><Relationship Type="http://schemas.openxmlformats.org/officeDocument/2006/relationships/notesSlide" Target="/ppt/notesSlides/notesSlide2.xml" Id="Rd2d90e17255e4d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fb510cad642e3" /><Relationship Type="http://schemas.openxmlformats.org/officeDocument/2006/relationships/notesSlide" Target="/ppt/notesSlides/notesSlide3.xml" Id="R1248b2e3b17843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ca1ad3f824b0b" /><Relationship Type="http://schemas.openxmlformats.org/officeDocument/2006/relationships/notesSlide" Target="/ppt/notesSlides/notesSlide4.xml" Id="R5ad9a957c0934a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d661905a94a91" /><Relationship Type="http://schemas.openxmlformats.org/officeDocument/2006/relationships/notesSlide" Target="/ppt/notesSlides/notesSlide5.xml" Id="Rfe4f915d57844d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7ea57a6c5404d" /><Relationship Type="http://schemas.openxmlformats.org/officeDocument/2006/relationships/notesSlide" Target="/ppt/notesSlides/notesSlide6.xml" Id="R825a052560d24f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7345322512402b" /><Relationship Type="http://schemas.openxmlformats.org/officeDocument/2006/relationships/notesSlide" Target="/ppt/notesSlides/notesSlide7.xml" Id="R394d10d3af184f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1bec2c13e4b5e" /><Relationship Type="http://schemas.openxmlformats.org/officeDocument/2006/relationships/notesSlide" Target="/ppt/notesSlides/notesSlide8.xml" Id="Rae17eaa140c54a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9b5bd03d74cc9" /><Relationship Type="http://schemas.openxmlformats.org/officeDocument/2006/relationships/notesSlide" Target="/ppt/notesSlides/notesSlide9.xml" Id="R8ae1dcf5e2c148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3C177-3F81-45A1-BB0A-23836ECD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4EAAA7"/>
                </a:solidFill>
              </a:defRPr>
            </a:pPr>
            <a:r>
              <a:rPr sz="1050" b="1">
                <a:solidFill>
                  <a:srgbClr val="4EAAA7"/>
                </a:solidFill>
              </a:rPr>
              <a:t>THESIS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A30AF-D57B-41CB-8F07-E1A13B4B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Optimization-based</a:t>
            </a:r>
          </a:p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precipitation estimation</a:t>
            </a:r>
          </a:p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from commercial microwave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6431B-87B7-4C02-AE36-C622DC8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2805-7DE6-4B97-A244-D0A134FC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0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Iván Soto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1D2D7-38D8-4D36-9089-D8FC18EF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with Guy Even, Andreas Karrenbauer, Rex Lei,</a:t>
            </a:r>
          </a:p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Jonatan Ostrometzky, and Christian Sohler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F4C1D-ADD1-4FD1-87BD-B11D9EF5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Max Planck Institute for Informatics  ·  Tel Aviv University  ·  University of Cologne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5BB48-1376-4ECB-8FF1-DABCB69A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43625"/>
            <a:ext cx="1219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EAAA7"/>
                </a:solidFill>
              </a:defRPr>
            </a:pPr>
            <a:r>
              <a:rPr sz="975" b="0">
                <a:solidFill>
                  <a:srgbClr val="4EAAA7"/>
                </a:solidFill>
              </a:rPr>
              <a:t>Working deck · foundational slides</a:t>
            </a:r>
          </a:p>
        </p:txBody>
      </p:sp>
    </p:spTree>
    <p:extLst>
      <p:ext uri="{BB962C8B-B14F-4D97-AF65-F5344CB8AC3E}">
        <p14:creationId xmlns:p14="http://schemas.microsoft.com/office/powerpoint/2010/main" val="1862178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0F8B2-49EC-4A1B-8B63-097B910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AAA7"/>
                </a:solidFill>
              </a:defRPr>
            </a:pPr>
            <a:r>
              <a:rPr sz="975" b="1">
                <a:solidFill>
                  <a:srgbClr val="4EAAA7"/>
                </a:solidFill>
              </a:rPr>
              <a:t>THESIS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B6943-AA34-4A33-996C-150F7996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Why estimate rainfall at high spatial resolution?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F5514-D903-4FE6-8836-0223CF5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Rainfall varies across space and time, but the instruments we rely on observe it differently.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2A2AF-965E-4103-BA93-296665DD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1C507-297E-4A34-8289-7710294D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A2A09-3B77-41CB-8D62-80DD8575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Rain gauges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35B51-9585-43F6-A786-01766665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Very accurate at a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10291-01A5-45D5-B560-283B0B13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Sparse coverage</a:t>
            </a:r>
          </a:p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Local variability is missed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CDCDD-850F-47F7-A29F-5F802E79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333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36967-08B3-44EA-A1F0-D4AAF7B3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1493C-C7B8-467A-9723-DA078356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Weather radar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57039-98D9-4AD0-AD25-893B214E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Large-area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AB78F-2D76-40DB-8F3E-2218BEB7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Indirect, elevated measurement</a:t>
            </a:r>
          </a:p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Affected by blockage and 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24120-F0C8-489C-A238-017DDDA8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333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40CB0-106A-4D17-BF47-2506CB38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FF267-6300-4F78-B191-8FF83A5B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Commercial microwave links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65BD2-3555-4125-9F64-EE6E6AF7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Existing infrastructure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with dense urban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9354A-F807-4918-954D-6B823BC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Measurements integrate rainfall</a:t>
            </a:r>
          </a:p>
          <a:p xmlns:a="http://schemas.openxmlformats.org/drawingml/2006/main">
            <a:pPr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along a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BB77B-3812-4B2A-B46D-0842570F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333333"/>
                </a:solidFill>
              </a:defRPr>
            </a:pPr>
            <a:r>
              <a:rPr sz="900" b="0">
                <a:solidFill>
                  <a:srgbClr val="333333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FF9F3-35D2-4FD6-9CA5-09AC2AE3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7036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BD1AA-84AB-4A28-AF47-5DCCBC6E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AAA7"/>
                </a:solidFill>
              </a:defRPr>
            </a:pPr>
            <a:r>
              <a:rPr sz="975" b="1">
                <a:solidFill>
                  <a:srgbClr val="4EAAA7"/>
                </a:solidFill>
              </a:rPr>
              <a:t>THE SENSOR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F39FC-DFB1-4909-9FF1-4E8751E9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 commercial microwave link is a path-integrated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E5B83-299F-4667-919D-1EFDD11C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Two fixed antennas exchange a microwave signal. Rain along the path reduces received power.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51814-F17C-4482-BA34-749453E0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428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7EEF0"/>
          </a:solidFill>
          <a:ln xmlns:a="http://schemas.openxmlformats.org/drawingml/2006/main" w="9525">
            <a:solidFill>
              <a:srgbClr val="4EAA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D746A-2F8D-4AB2-BC56-0D8C203B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05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Antenna</a:t>
            </a:r>
          </a:p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(transmitter)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B0470-0FC6-4D69-8A1C-85B918C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428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7EEF0"/>
          </a:solidFill>
          <a:ln xmlns:a="http://schemas.openxmlformats.org/drawingml/2006/main" w="9525">
            <a:solidFill>
              <a:srgbClr val="4EAA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0BEAC-470A-4175-8CE1-2F3A0960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Antenna</a:t>
            </a:r>
          </a:p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(receiver)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0C405-2EE9-406F-A2A0-C18BED28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95650"/>
            <a:ext cx="7143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5E"/>
          </a:solidFill>
          <a:ln xmlns:a="http://schemas.openxmlformats.org/drawingml/2006/main" w="9525">
            <a:solidFill>
              <a:srgbClr val="F5C4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9E791-E8AE-4EFC-9787-AF6E8907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0A3CF-41BE-44CE-B0F5-3A1B245A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CFA12-B209-4D60-A574-E93124F7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43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C394F-ED64-4352-8925-DA95F2D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99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D6058-AF0D-4575-BC2E-365865E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3AFE0-296F-4A1F-8793-DE5DE6F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A5693-D69B-4C75-A669-40454B29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E5DC8-3839-47AE-8D85-753013C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8AA2"/>
                </a:solidFill>
              </a:defRPr>
            </a:pPr>
            <a:r>
              <a:rPr sz="1425" b="1">
                <a:solidFill>
                  <a:srgbClr val="168AA2"/>
                </a:solidFill>
              </a:rPr>
              <a:t>rainfall along the link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063B4-D181-465F-9E4B-62DBFC1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Measured attenuation constrains the average effect of rainfall along the entire path, not rainfall at one point.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14665-B2E4-43EF-905B-D85FB9B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333333"/>
                </a:solidFill>
              </a:defRPr>
            </a:pPr>
            <a:r>
              <a:rPr sz="900" b="0">
                <a:solidFill>
                  <a:srgbClr val="333333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42F53-CA44-46C8-8258-E3BAEF90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1233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0DAD2-805C-40A9-9518-83ECA5B4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AAA7"/>
                </a:solidFill>
              </a:defRPr>
            </a:pPr>
            <a:r>
              <a:rPr sz="975" b="1">
                <a:solidFill>
                  <a:srgbClr val="4EAAA7"/>
                </a:solidFill>
              </a:rPr>
              <a:t>PHYSICAL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9C103-CA9F-46D3-B70E-8D68D31E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From rainfall to a measured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815CE-0FA6-4499-8C1E-D5C75CD4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286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21016-8292-4515-97EF-D2D0496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Rain rate R(x,y)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F405B-BE20-4E38-88F2-F983F41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unknown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494FB-879D-4573-A95F-FE8637F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8AA2"/>
                </a:solidFill>
              </a:defRPr>
            </a:pPr>
            <a:r>
              <a:rPr sz="2100" b="1">
                <a:solidFill>
                  <a:srgbClr val="168AA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43FFE-F610-4A0D-B976-F53D80EB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28875"/>
            <a:ext cx="2286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8283E-3A59-4EB4-8D05-EF5668B5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Drop–wave interaction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32CAE-3A12-4058-B70E-0A5CEFF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frequency + polarization matter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F35B2-51AC-4446-8EE0-AF8FCC3C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48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8AA2"/>
                </a:solidFill>
              </a:defRPr>
            </a:pPr>
            <a:r>
              <a:rPr sz="2100" b="1">
                <a:solidFill>
                  <a:srgbClr val="168AA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0095D-221F-43EA-81D2-6423C034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28875"/>
            <a:ext cx="2286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98ADB-8B10-4741-B4DA-D41F2ACF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Specific attenuation k(R)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49E3F-1F22-4A39-913E-59AFC234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rain-induced signal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86B34-D411-44EF-83D7-16B1469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8AA2"/>
                </a:solidFill>
              </a:defRPr>
            </a:pPr>
            <a:r>
              <a:rPr sz="2100" b="1">
                <a:solidFill>
                  <a:srgbClr val="168AA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039F1-2AAD-45AF-8539-E648DBD4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286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08426-FE06-41EF-9707-3C92FB88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Path attenuation Aℓ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5FB4D-B163-4912-AAC1-37DF5CE9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what the link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5A26E-8BDE-4EE4-BC03-5F0D0067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53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 common model uses a power law of the form  k = a R^b, with coefficients a and b determined by frequency and polarization.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8188A-9332-41AA-94F9-BDCCB616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8AA2"/>
                </a:solidFill>
              </a:defRPr>
            </a:pPr>
            <a:r>
              <a:rPr sz="1575" b="1">
                <a:solidFill>
                  <a:srgbClr val="168AA2"/>
                </a:solidFill>
              </a:rPr>
              <a:t>The forward model is known. The inverse problem is to recover R from Aℓ.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8E976-24E3-4BF2-B2D1-88430A30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333333"/>
                </a:solidFill>
              </a:defRPr>
            </a:pPr>
            <a:r>
              <a:rPr sz="900" b="0">
                <a:solidFill>
                  <a:srgbClr val="333333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E2716-FCBA-419D-8ECC-2B979BB3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64180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B65B3-B93C-4B7E-B79F-454ECD71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AAA7"/>
                </a:solidFill>
              </a:defRPr>
            </a:pPr>
            <a:r>
              <a:rPr sz="975" b="1">
                <a:solidFill>
                  <a:srgbClr val="4EAAA7"/>
                </a:solidFill>
              </a:rPr>
              <a:t>INVERSE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79412-B940-40D9-88CC-7EDBE9E1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The reconstruction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B0208-91CC-46AC-BBB7-E7E5EA64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Given a set of link measurements, estimate the rainfall field that best explains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AC5B9-CE56-4AE1-A30A-9F5C5CA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95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FEC7A-EB97-4319-8BBD-4FBD7356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AA2"/>
                </a:solidFill>
              </a:defRPr>
            </a:pPr>
            <a:r>
              <a:rPr sz="1350" b="1">
                <a:solidFill>
                  <a:srgbClr val="168AA2"/>
                </a:solidFill>
              </a:rPr>
              <a:t>Observed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2DF85-7B3B-4E68-942D-CCECFACE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attenuation measurements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link geometry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frequency and polarization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E00F7-8429-48D7-91CF-CF0DF8FF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8AA2"/>
                </a:solidFill>
              </a:defRPr>
            </a:pPr>
            <a:r>
              <a:rPr sz="3300" b="1">
                <a:solidFill>
                  <a:srgbClr val="168AA2"/>
                </a:solidFill>
              </a:rPr>
              <a:t>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8EB5A-C1BB-4635-9B37-0567436B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50292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AD55F-EA39-4D87-8DA8-21354BE0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ED9D4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D9D4"/>
                </a:solidFill>
              </a:defRPr>
            </a:pPr>
            <a:r>
              <a:rPr sz="1350" b="1">
                <a:solidFill>
                  <a:srgbClr val="8ED9D4"/>
                </a:solidFill>
              </a:rPr>
              <a:t>Estimated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1BA32-D1A3-424E-8C02-CDEAEB6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spatial rainfall field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that respects the physics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and the available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41E7A-75C7-46CB-9CFB-A615557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292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 key modeling choice: preserve each link as a path constraint instead of collapsing it to a virtual point gauge.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C4D99-95AC-4D17-A62F-1571A934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333333"/>
                </a:solidFill>
              </a:defRPr>
            </a:pPr>
            <a:r>
              <a:rPr sz="900" b="0">
                <a:solidFill>
                  <a:srgbClr val="333333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E5B3E-F3B2-4908-B949-3C2FD327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8035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004BF-81B4-412D-84D4-A187459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AAA7"/>
                </a:solidFill>
              </a:defRPr>
            </a:pPr>
            <a:r>
              <a:rPr sz="975" b="1">
                <a:solidFill>
                  <a:srgbClr val="4EAAA7"/>
                </a:solidFill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CB498-7483-4F19-9019-3B9F5B20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Existing observations and their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4C117-7E25-46D2-9D53-CA70FAD2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AA2"/>
                </a:solidFill>
              </a:defRPr>
            </a:pPr>
            <a:r>
              <a:rPr sz="1275" b="1">
                <a:solidFill>
                  <a:srgbClr val="168AA2"/>
                </a:solidFill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1FA4E-B289-42B6-83C0-26E310C2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AA2"/>
                </a:solidFill>
              </a:defRPr>
            </a:pPr>
            <a:r>
              <a:rPr sz="1275" b="1">
                <a:solidFill>
                  <a:srgbClr val="168AA2"/>
                </a:solidFill>
              </a:rPr>
              <a:t>What it observes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976D7-2AC2-4163-B0C0-48131FF9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AA2"/>
                </a:solidFill>
              </a:defRPr>
            </a:pPr>
            <a:r>
              <a:rPr sz="1275" b="1">
                <a:solidFill>
                  <a:srgbClr val="168AA2"/>
                </a:solidFill>
              </a:rPr>
              <a:t>Strength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99F98-2551-4F3B-B128-AE8A7386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AA2"/>
                </a:solidFill>
              </a:defRPr>
            </a:pPr>
            <a:r>
              <a:rPr sz="1275" b="1">
                <a:solidFill>
                  <a:srgbClr val="168AA2"/>
                </a:solidFill>
              </a:rPr>
              <a:t>Limitation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6A2E7-CD8A-4801-8DD8-487A0EAE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BC230-9A19-454B-B476-94D9CE6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Rain gauges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0C920-6714-4C62-A8EE-139FF1B6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Point measurement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09AB2-2EC1-4E60-929D-5970BF9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High local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58483-0A42-4FC9-89B0-BD027C71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Sparse and expensive to 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13ACE-C0E7-4A6F-B40B-1ECA5E56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E38A8-969B-4F19-94D1-F29ABBBB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Weather radar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0B5B0-B5DA-4FC1-8F51-4A35F165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433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Area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D54CA-53D0-4478-A59F-D9231E0F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Wide spatial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64EA2-9398-446F-8585-064D62AA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433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Indirect estimate with known uncertainties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3F1DE-0D53-445C-ABE5-3F35D628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5E297-64C9-45CC-B92F-94FFEADB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CML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BD99-D79F-4DB6-B559-B3F5F04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43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Path-integrated measurement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7738A-AC55-4FFC-91F0-C78135BF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Dense, near-ground, opportunistic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D749-7DB4-439F-9597-6B0CAA84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Inverse problem and signal confounders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3EF15-DF31-4164-8F4F-FB701BF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531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8AA2"/>
                </a:solidFill>
              </a:defRPr>
            </a:pPr>
            <a:r>
              <a:rPr sz="1650" b="1">
                <a:solidFill>
                  <a:srgbClr val="168AA2"/>
                </a:solidFill>
              </a:rPr>
              <a:t>CMLs complement existing instruments. They do not replace the need for gauges or radar.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C1F2B-4CA8-4727-8EA7-14929426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333333"/>
                </a:solidFill>
              </a:defRPr>
            </a:pPr>
            <a:r>
              <a:rPr sz="900" b="0">
                <a:solidFill>
                  <a:srgbClr val="333333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B66B1-CCD6-4598-BAE6-CC3C5438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6349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A24602-D1D0-435D-835C-834CA356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AAA7"/>
                </a:solidFill>
              </a:defRPr>
            </a:pPr>
            <a:r>
              <a:rPr sz="975" b="1">
                <a:solidFill>
                  <a:srgbClr val="4EAAA7"/>
                </a:solidFill>
              </a:rPr>
              <a:t>THESIS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223EA-9334-4BBF-8396-423BFE07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CMLs turn communication infrastructure into an opportunistic sensor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D3DE6-7D48-4BE5-9248-ADDCFC00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The infrastructure already exists. The scientific challenge is to interpret its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9A7E3-0CCF-475C-85B3-2F529FF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F17D0-A7A2-4CD5-A651-715E656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D0D35-3FC3-49A3-A2E6-32E50420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86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45A11-4C83-4760-85FF-2CE935CA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86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A3A79-EABC-4489-9F7E-95089DEE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86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3FCD9-27AA-4932-95A0-C825215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0A21C-F3B7-4C47-9FE1-438D11C7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29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3D692-F664-4FC0-8045-2ECDF3DC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29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33D3F-077E-43FA-9CFF-B4B351AB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29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92E33-3AE4-40AE-AFF1-0C66C3CD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3B6DB-459C-4562-8877-A4ECC26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48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2E652-88F8-457A-8850-03DDBC0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48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B3A17-175B-4067-8D2F-58BA777F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109C1-705C-4344-8DF3-606409F1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591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2831E-C3BB-4227-9016-F0D9AA9C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91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10C35-0B40-425E-BF2C-53629EBD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480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A941B-B487-4D29-9227-C7910CB7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480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DF43D-6661-4CBB-8720-7008093C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9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AA2"/>
                </a:solidFill>
              </a:defRPr>
            </a:pPr>
            <a:r>
              <a:rPr sz="1350" b="1">
                <a:solidFill>
                  <a:srgbClr val="168AA2"/>
                </a:solidFill>
              </a:rPr>
              <a:t>existing link network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7CD04-031D-493A-992E-D30D364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8AA2"/>
                </a:solidFill>
              </a:defRPr>
            </a:pPr>
            <a:r>
              <a:rPr sz="1800" b="1">
                <a:solidFill>
                  <a:srgbClr val="168AA2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7BB749-6EEF-42E2-9C16-CD6D7946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Many links sample near the ground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1989E-8E2E-485E-9A17-C2D2DA85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8AA2"/>
                </a:solidFill>
              </a:defRPr>
            </a:pPr>
            <a:r>
              <a:rPr sz="1800" b="1">
                <a:solidFill>
                  <a:srgbClr val="168AA2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A1FCB-5160-4CDC-A08B-0F97AB42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Coverage follows populated areas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277F5-2E6F-441F-8F6C-B04D8F4D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8AA2"/>
                </a:solidFill>
              </a:defRPr>
            </a:pPr>
            <a:r>
              <a:rPr sz="1800" b="1">
                <a:solidFill>
                  <a:srgbClr val="168AA2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AF683-9149-4403-A728-7B0B3EE6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Measurements arrive as path integrals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FFE2B0-2889-4A84-B025-02715DC1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8AA2"/>
                </a:solidFill>
              </a:defRPr>
            </a:pPr>
            <a:r>
              <a:rPr sz="1800" b="1">
                <a:solidFill>
                  <a:srgbClr val="168AA2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01BCF8-0CCC-4D1A-BF87-1691C8BF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Network geometry shapes what can be reconstructed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3A1D3A-5F7E-4A62-8CEA-CC92ADD4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333333"/>
                </a:solidFill>
              </a:defRPr>
            </a:pPr>
            <a:r>
              <a:rPr sz="900" b="0">
                <a:solidFill>
                  <a:srgbClr val="333333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0ADB11-01D3-48D5-B2EA-BBA3CEF2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2666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BEB2BC-7194-4BF2-8EA4-6AA972B0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EAAA7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EAAA7"/>
                </a:solidFill>
              </a:defRPr>
            </a:pPr>
            <a:r>
              <a:rPr sz="975" b="1">
                <a:solidFill>
                  <a:srgbClr val="4EAAA7"/>
                </a:solidFill>
              </a:rPr>
              <a:t>LITERATURE THREAD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72CAE-0579-481A-824F-F55E4E36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 brief history of rainfall sensing with microwave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B0CBE-AC18-40AB-9FC5-85363A80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The historical arc to verify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81A8E-9C34-4124-B174-C98CCA0E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14312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EFE46-2B58-4CC8-8492-CE7D7163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75F17-2807-4C0C-A90A-BA57C7EF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Early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A6D6C-7FA7-4EC2-A19A-2A214F5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Rain-induced microwave attenuation studied for communication reliability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3F94B-56C2-4DB4-A652-E2A0D03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8AA2"/>
                </a:solidFill>
              </a:defRPr>
            </a:pPr>
            <a:r>
              <a:rPr sz="1800" b="1">
                <a:solidFill>
                  <a:srgbClr val="168AA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B65F9-EFEE-4D0C-AB49-254D6658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214312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35CF1-4994-4474-A221-9640984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14EA0-8919-41D3-BA56-02A98A3C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81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Power-law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28DCB-AFFE-48A6-B2A2-1C7452BC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38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Rain rate linked to specific attenuation through frequency- and polarization-dependent coefficients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BD0CF-0DE0-4788-B42F-ECDA4D3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76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8AA2"/>
                </a:solidFill>
              </a:defRPr>
            </a:pPr>
            <a:r>
              <a:rPr sz="1800" b="1">
                <a:solidFill>
                  <a:srgbClr val="168AA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2A05C-D0C8-4C62-B546-A8D18C36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14312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EF25D-1205-4CB1-8D16-70368DCF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0DC00-D85B-40AE-960F-AC0A54F4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Dedicated links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700AD-004D-446C-AFAF-F40C71A8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Researchers tested microwave links as rainfall sensors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80BBC-BE55-41E4-B53F-24BA41B6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8AA2"/>
                </a:solidFill>
              </a:defRPr>
            </a:pPr>
            <a:r>
              <a:rPr sz="1800" b="1">
                <a:solidFill>
                  <a:srgbClr val="168AA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9F875-03A1-4E46-824E-9965B530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214312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69C5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2E793-420E-4086-87AA-4E8E4EA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DB490-93A6-4C85-ADF1-F7F398EB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81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Rain-field reconstruction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5E6E5-8588-40FD-B2A9-88FD34E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38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Methods began using networks of links to infer spatial rainfall fields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B1034-681F-4303-9975-A6958CB5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8AA2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8AA2"/>
                </a:solidFill>
              </a:defRPr>
            </a:pPr>
            <a:r>
              <a:rPr sz="1500" b="1">
                <a:solidFill>
                  <a:srgbClr val="168AA2"/>
                </a:solidFill>
              </a:rPr>
              <a:t>Candidate milestones: pre-1978 attenuation studies · Olsen et al. (1978) · early field reconstruction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B3BB1-30FD-4834-A9CC-565AF671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10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Dates and citations are placeholders for the next pass.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B591E-691A-493A-9AA6-D534022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333333"/>
                </a:solidFill>
              </a:defRPr>
            </a:pPr>
            <a:r>
              <a:rPr sz="900" b="0">
                <a:solidFill>
                  <a:srgbClr val="333333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08EA1-8CC2-4575-8B10-3B894CC5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29736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AEF20-21F0-47C0-BE71-0860A1CC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ED9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D9D4"/>
                </a:solidFill>
              </a:defRPr>
            </a:pPr>
            <a:r>
              <a:rPr sz="1125" b="1">
                <a:solidFill>
                  <a:srgbClr val="8ED9D4"/>
                </a:solidFill>
              </a:rPr>
              <a:t>THE THESIS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A5709-269F-419F-97F9-9F395687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How can we reconstruct rainfall fields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from path-integrated CML measurements?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A2973-544C-4396-978E-E69E921D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9E6F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9E6F2"/>
                </a:solidFill>
              </a:defRPr>
            </a:pPr>
            <a:r>
              <a:rPr sz="1875" b="0">
                <a:solidFill>
                  <a:srgbClr val="D9E6F2"/>
                </a:solidFill>
              </a:rPr>
              <a:t>This thesis treats the task as a physics-informed optimization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D0123-E930-44F0-BBC2-E0941BA7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3457B-1F36-46ED-9092-8689D82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Next: formulation, benchmark construction, optimization methods, and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3A7F4-5981-4C2D-B32C-6680AB7F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D9D4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ED9D4"/>
                </a:solidFill>
              </a:defRPr>
            </a:pPr>
            <a:r>
              <a:rPr sz="1050" b="0">
                <a:solidFill>
                  <a:srgbClr val="8ED9D4"/>
                </a:solidFill>
              </a:rPr>
              <a:t>Working deck · v1</a:t>
            </a:r>
          </a:p>
        </p:txBody>
      </p:sp>
    </p:spTree>
    <p:extLst>
      <p:ext uri="{BB962C8B-B14F-4D97-AF65-F5344CB8AC3E}">
        <p14:creationId xmlns:p14="http://schemas.microsoft.com/office/powerpoint/2010/main" val="1188275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2026-10-07T01:23:06.9760000Z</dcterms:created>
  <dcterms:modified xsi:type="dcterms:W3CDTF">2026-10-07T01:23:06.9760000Z</dcterms:modified>
</coreProperties>
</file>