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06b2764f224439" /><Relationship Type="http://schemas.openxmlformats.org/officeDocument/2006/relationships/extended-properties" Target="/docProps/app.xml" Id="R8eb8eb8fdc7746ee" /><Relationship Type="http://schemas.openxmlformats.org/officeDocument/2006/relationships/officeDocument" Target="/ppt/presentation.xml" Id="R80c6d6ca0a804f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2ae6f3e8344763"/>
  </p:sldMasterIdLst>
  <p:notesMasterIdLst>
    <p:notesMasterId xmlns:r="http://schemas.openxmlformats.org/officeDocument/2006/relationships" r:id="Rdcbb3745663b4716"/>
  </p:notesMasterIdLst>
  <p:sldIdLst>
    <p:sldId xmlns:r="http://schemas.openxmlformats.org/officeDocument/2006/relationships" id="256" r:id="Rf2b88fbd8cb14396"/>
    <p:sldId xmlns:r="http://schemas.openxmlformats.org/officeDocument/2006/relationships" id="257" r:id="Rd2d8bf7dc77f4c9d"/>
    <p:sldId xmlns:r="http://schemas.openxmlformats.org/officeDocument/2006/relationships" id="258" r:id="Rc0c99b2fc97146bd"/>
    <p:sldId xmlns:r="http://schemas.openxmlformats.org/officeDocument/2006/relationships" id="259" r:id="R177e4ed72f9749df"/>
    <p:sldId xmlns:r="http://schemas.openxmlformats.org/officeDocument/2006/relationships" id="260" r:id="R7d72a28b47ba4896"/>
    <p:sldId xmlns:r="http://schemas.openxmlformats.org/officeDocument/2006/relationships" id="261" r:id="R5b205c5c237c4d88"/>
    <p:sldId xmlns:r="http://schemas.openxmlformats.org/officeDocument/2006/relationships" id="262" r:id="R6a6ed9120818499a"/>
    <p:sldId xmlns:r="http://schemas.openxmlformats.org/officeDocument/2006/relationships" id="263" r:id="R3e8e27206c1643da"/>
    <p:sldId xmlns:r="http://schemas.openxmlformats.org/officeDocument/2006/relationships" id="264" r:id="Rfd0908cb374d41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fbe028f4c54d4a" /><Relationship Type="http://schemas.openxmlformats.org/officeDocument/2006/relationships/slideMaster" Target="/ppt/slideMasters/slideMaster1.xml" Id="R3e2ae6f3e8344763" /><Relationship Type="http://schemas.openxmlformats.org/officeDocument/2006/relationships/notesMaster" Target="/ppt/notesMasters/notesMaster1.xml" Id="Rdcbb3745663b4716" /><Relationship Type="http://schemas.openxmlformats.org/officeDocument/2006/relationships/presProps" Target="/ppt/presProps.xml" Id="R5f65ad8cc324445d" /><Relationship Type="http://schemas.openxmlformats.org/officeDocument/2006/relationships/tableStyles" Target="/ppt/tableStyles.xml" Id="R3e241594eea6491d" /><Relationship Type="http://schemas.openxmlformats.org/officeDocument/2006/relationships/slide" Target="/ppt/slides/slide1.xml" Id="Rf2b88fbd8cb14396" /><Relationship Type="http://schemas.openxmlformats.org/officeDocument/2006/relationships/slide" Target="/ppt/slides/slide2.xml" Id="Rd2d8bf7dc77f4c9d" /><Relationship Type="http://schemas.openxmlformats.org/officeDocument/2006/relationships/slide" Target="/ppt/slides/slide3.xml" Id="Rc0c99b2fc97146bd" /><Relationship Type="http://schemas.openxmlformats.org/officeDocument/2006/relationships/slide" Target="/ppt/slides/slide4.xml" Id="R177e4ed72f9749df" /><Relationship Type="http://schemas.openxmlformats.org/officeDocument/2006/relationships/slide" Target="/ppt/slides/slide5.xml" Id="R7d72a28b47ba4896" /><Relationship Type="http://schemas.openxmlformats.org/officeDocument/2006/relationships/slide" Target="/ppt/slides/slide6.xml" Id="R5b205c5c237c4d88" /><Relationship Type="http://schemas.openxmlformats.org/officeDocument/2006/relationships/slide" Target="/ppt/slides/slide7.xml" Id="R6a6ed9120818499a" /><Relationship Type="http://schemas.openxmlformats.org/officeDocument/2006/relationships/slide" Target="/ppt/slides/slide8.xml" Id="R3e8e27206c1643da" /><Relationship Type="http://schemas.openxmlformats.org/officeDocument/2006/relationships/slide" Target="/ppt/slides/slide9.xml" Id="Rfd0908cb374d41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19f52f982543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d6a60caf134b64" /><Relationship Type="http://schemas.openxmlformats.org/officeDocument/2006/relationships/notesMaster" Target="/ppt/notesMasters/notesMaster1.xml" Id="R2c9dec35b2634d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896cd3093c470d" /><Relationship Type="http://schemas.openxmlformats.org/officeDocument/2006/relationships/notesMaster" Target="/ppt/notesMasters/notesMaster1.xml" Id="Re07e2766c36d49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3463a18270469c" /><Relationship Type="http://schemas.openxmlformats.org/officeDocument/2006/relationships/notesMaster" Target="/ppt/notesMasters/notesMaster1.xml" Id="Rae1881743c194d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49de2b70934ad5" /><Relationship Type="http://schemas.openxmlformats.org/officeDocument/2006/relationships/notesMaster" Target="/ppt/notesMasters/notesMaster1.xml" Id="R2a281fa6ab7c4a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7fe7ae877a4139" /><Relationship Type="http://schemas.openxmlformats.org/officeDocument/2006/relationships/notesMaster" Target="/ppt/notesMasters/notesMaster1.xml" Id="Rf0683ea2245d4e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8a43b8917e4d2d" /><Relationship Type="http://schemas.openxmlformats.org/officeDocument/2006/relationships/notesMaster" Target="/ppt/notesMasters/notesMaster1.xml" Id="R9f0f11b362f54b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662b324aeb425f" /><Relationship Type="http://schemas.openxmlformats.org/officeDocument/2006/relationships/notesMaster" Target="/ppt/notesMasters/notesMaster1.xml" Id="Rc75c41177d894f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f9f9b5d6644586" /><Relationship Type="http://schemas.openxmlformats.org/officeDocument/2006/relationships/notesMaster" Target="/ppt/notesMasters/notesMaster1.xml" Id="Ra4995d6f283746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f41d3dda6b4911" /><Relationship Type="http://schemas.openxmlformats.org/officeDocument/2006/relationships/notesMaster" Target="/ppt/notesMasters/notesMaster1.xml" Id="Ra6c0a568313048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2d8afe5414d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b66ddee1346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9954cd8a14e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352b06a074d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92a3d654e42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f40a2536946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23D32E-541F-45A7-BD31-BCEE61DA8A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4DE471-B215-4F1A-97C7-E6E11D5F06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9454BA-79D8-480B-9378-FEC889364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13F5F6-3C7B-491E-B1FB-C34742522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5689E8-B99E-410F-A6F7-8FD434E6BB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41EA98-4FF1-4A51-A69D-792FD7E5F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FD7774-C850-4AEC-9795-59F5719978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3E518C-A4BD-4489-9600-1DF10FB3F8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F412D3-81D6-40C4-AB4D-AF00126FC5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83DD3D-1422-4499-8382-BABE768A5F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b7d338577e4e0b" /><Relationship Type="http://schemas.openxmlformats.org/officeDocument/2006/relationships/slideLayout" Target="/ppt/slideLayouts/slideLayout1.xml" Id="R82d90b8c00e64cdd" /><Relationship Type="http://schemas.openxmlformats.org/officeDocument/2006/relationships/slideLayout" Target="/ppt/slideLayouts/slideLayout2.xml" Id="Ra3e3333ab06b4c4c" /><Relationship Type="http://schemas.openxmlformats.org/officeDocument/2006/relationships/slideLayout" Target="/ppt/slideLayouts/slideLayout3.xml" Id="Rca9b26684aaa4386" /><Relationship Type="http://schemas.openxmlformats.org/officeDocument/2006/relationships/slideLayout" Target="/ppt/slideLayouts/slideLayout4.xml" Id="Rfa47430bbb7c4df0" /><Relationship Type="http://schemas.openxmlformats.org/officeDocument/2006/relationships/slideLayout" Target="/ppt/slideLayouts/slideLayout5.xml" Id="Ra0c58dbf719a489b" /><Relationship Type="http://schemas.openxmlformats.org/officeDocument/2006/relationships/slideLayout" Target="/ppt/slideLayouts/slideLayout6.xml" Id="Rc964e075358b4e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d90b8c00e64cdd"/>
    <p:sldLayoutId xmlns:r="http://schemas.openxmlformats.org/officeDocument/2006/relationships" id="2147483650" r:id="Ra3e3333ab06b4c4c"/>
    <p:sldLayoutId xmlns:r="http://schemas.openxmlformats.org/officeDocument/2006/relationships" id="2147483651" r:id="Rca9b26684aaa4386"/>
    <p:sldLayoutId xmlns:r="http://schemas.openxmlformats.org/officeDocument/2006/relationships" id="2147483652" r:id="Rfa47430bbb7c4df0"/>
    <p:sldLayoutId xmlns:r="http://schemas.openxmlformats.org/officeDocument/2006/relationships" id="2147483653" r:id="Ra0c58dbf719a489b"/>
    <p:sldLayoutId xmlns:r="http://schemas.openxmlformats.org/officeDocument/2006/relationships" id="2147483654" r:id="Rc964e075358b4e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1e55c64f142e3" /><Relationship Type="http://schemas.openxmlformats.org/officeDocument/2006/relationships/notesSlide" Target="/ppt/notesSlides/notesSlide1.xml" Id="R9abfdad3c20845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ce198e04f84de0" /><Relationship Type="http://schemas.openxmlformats.org/officeDocument/2006/relationships/notesSlide" Target="/ppt/notesSlides/notesSlide2.xml" Id="Rddfa4b6ba27f4a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f89eebbcc4705" /><Relationship Type="http://schemas.openxmlformats.org/officeDocument/2006/relationships/notesSlide" Target="/ppt/notesSlides/notesSlide3.xml" Id="Refdf154eb08345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27745949b425c" /><Relationship Type="http://schemas.openxmlformats.org/officeDocument/2006/relationships/notesSlide" Target="/ppt/notesSlides/notesSlide4.xml" Id="Ref56416bc98645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990e0cb1ee462d" /><Relationship Type="http://schemas.openxmlformats.org/officeDocument/2006/relationships/notesSlide" Target="/ppt/notesSlides/notesSlide5.xml" Id="Rd1c19357db7d4e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cc334e42694fff" /><Relationship Type="http://schemas.openxmlformats.org/officeDocument/2006/relationships/notesSlide" Target="/ppt/notesSlides/notesSlide6.xml" Id="R3584de5b41b948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20edaf9b441d7" /><Relationship Type="http://schemas.openxmlformats.org/officeDocument/2006/relationships/notesSlide" Target="/ppt/notesSlides/notesSlide7.xml" Id="R2da8bd91b3544a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836f8766f43cb" /><Relationship Type="http://schemas.openxmlformats.org/officeDocument/2006/relationships/notesSlide" Target="/ppt/notesSlides/notesSlide8.xml" Id="Rf909e9c357ec40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43420371f4317" /><Relationship Type="http://schemas.openxmlformats.org/officeDocument/2006/relationships/notesSlide" Target="/ppt/notesSlides/notesSlide9.xml" Id="R76a1e081c4d64d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175DB-047A-4437-8F5B-263BA2DB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8F3C9-F3E1-4CB7-8C49-B55E6C1B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92E27-3FEA-4E48-9ED7-05395D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8ED9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ED9D4"/>
                </a:solidFill>
              </a:defRPr>
            </a:pPr>
            <a:r>
              <a:rPr sz="1125" b="1">
                <a:solidFill>
                  <a:srgbClr val="8ED9D4"/>
                </a:solidFill>
              </a:rPr>
              <a:t>THESIS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9894E-4C5F-452C-A694-FDADDC9F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85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Optimization-based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precipitation estimation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from commercial microwave links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2730F-FDD7-4A1B-826E-DF11F155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Iván Soto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1D87B-8649-42AB-9D88-0BB585A8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9E6F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9E6F2"/>
                </a:solidFill>
              </a:defRPr>
            </a:pPr>
            <a:r>
              <a:rPr sz="1350" b="0">
                <a:solidFill>
                  <a:srgbClr val="D9E6F2"/>
                </a:solidFill>
              </a:rPr>
              <a:t>with Guy Even, Andreas Karrenbauer, Rex Lei,</a:t>
            </a:r>
          </a:p>
          <a:p xmlns:a="http://schemas.openxmlformats.org/drawingml/2006/main">
            <a:pPr>
              <a:defRPr sz="1350" b="0">
                <a:solidFill>
                  <a:srgbClr val="D9E6F2"/>
                </a:solidFill>
              </a:defRPr>
            </a:pPr>
            <a:r>
              <a:rPr sz="1350" b="0">
                <a:solidFill>
                  <a:srgbClr val="D9E6F2"/>
                </a:solidFill>
              </a:rPr>
              <a:t>Jonatan Ostrometzky, and Christian Sohler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690EF-25A7-467E-8102-176F3A45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8CADB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8CADB"/>
                </a:solidFill>
              </a:defRPr>
            </a:pPr>
            <a:r>
              <a:rPr sz="1050" b="0">
                <a:solidFill>
                  <a:srgbClr val="B8CADB"/>
                </a:solidFill>
              </a:rPr>
              <a:t>Max Planck Institute for Informatics  ·  Tel Aviv University  ·  University of Cologne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B2D6D-0138-49EB-89DA-06BFBF8D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ED9D4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8ED9D4"/>
                </a:solidFill>
              </a:defRPr>
            </a:pPr>
            <a:r>
              <a:rPr sz="975" b="0">
                <a:solidFill>
                  <a:srgbClr val="8ED9D4"/>
                </a:solidFill>
              </a:rPr>
              <a:t>Working deck · foundational slides</a:t>
            </a:r>
          </a:p>
        </p:txBody>
      </p:sp>
    </p:spTree>
    <p:extLst>
      <p:ext uri="{BB962C8B-B14F-4D97-AF65-F5344CB8AC3E}">
        <p14:creationId xmlns:p14="http://schemas.microsoft.com/office/powerpoint/2010/main" val="1062870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056E8-3FED-400B-A6BF-96FE8B61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47E6"/>
                </a:solidFill>
              </a:defRPr>
            </a:pPr>
            <a:r>
              <a:rPr sz="1050" b="1">
                <a:solidFill>
                  <a:srgbClr val="1447E6"/>
                </a:solidFill>
              </a:rPr>
              <a:t>THESIS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62EE8-E28E-4E0F-9301-C08A7DE3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Why estimate rainfall at high spatial resolution?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E0D18-3D40-41CE-8319-4AF2B9D1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4F4FA-927A-4F87-A260-DED2D1E2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556C"/>
                </a:solidFill>
              </a:defRPr>
            </a:pPr>
            <a:r>
              <a:rPr sz="1725" b="0">
                <a:solidFill>
                  <a:srgbClr val="45556C"/>
                </a:solidFill>
              </a:rPr>
              <a:t>Rainfall varies across space and time, but the instruments we rely on observe it differently.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768A3-0DD9-4617-919A-A16E6F55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863D8-3196-4A3F-A1F6-0B2ABA8A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4AD1F-6008-45E0-8634-BC86DFFC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Rain gauges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5EAFC-03BA-4748-9BA1-1F50CDD0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Very accurate at a 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0D48D-6A21-4AC2-8EE1-9F6D5550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Sparse coverage</a:t>
            </a:r>
          </a:p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Local variability is missed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EA2A1-8A06-4900-AAF6-93AFC94D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3333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654E9-8FCB-4866-B9BB-ECA3A93C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FE389-9C63-46CF-B3ED-A436BA81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Weather radar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529CE-3081-4FD3-9700-36C79690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Large-area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76901-6BFA-452F-BFE1-88F55CA3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433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Indirect, elevated measurement</a:t>
            </a:r>
          </a:p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Affected by blockage and uncertainty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8A821-CE86-41C1-9337-22936D16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3333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5D76D-B2AD-4931-9E15-ACF6C16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B8989-D04C-4145-B65E-7E511B2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Commercial microwave links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03E59-D0C1-4E3B-B17C-1CF4FCC4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Existing infrastructure</a:t>
            </a:r>
          </a:p>
          <a:p xmlns:a="http://schemas.openxmlformats.org/drawingml/2006/main">
            <a:pPr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with dense urban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031CF-0759-4245-9B22-900BFEB9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433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Measurements integrate rainfall</a:t>
            </a:r>
          </a:p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along a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A2B15-331C-4086-9E65-2FAB4E27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2A05D-F0D3-4E56-92F8-5C981951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1328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00584-B9BE-44FE-9672-3A05B800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47E6"/>
                </a:solidFill>
              </a:defRPr>
            </a:pPr>
            <a:r>
              <a:rPr sz="1050" b="1">
                <a:solidFill>
                  <a:srgbClr val="1447E6"/>
                </a:solidFill>
              </a:rPr>
              <a:t>THE SENSOR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20D00-D927-4775-934B-E0DCEB64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A commercial microwave link is a path-integrated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82DC7-C4DD-458E-AD39-760FA625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8053F-1AB6-4DF0-A847-23DFC093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556C"/>
                </a:solidFill>
              </a:defRPr>
            </a:pPr>
            <a:r>
              <a:rPr sz="1725" b="0">
                <a:solidFill>
                  <a:srgbClr val="45556C"/>
                </a:solidFill>
              </a:rPr>
              <a:t>Two fixed antennas exchange a microwave signal. Rain along the path reduces received power.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9B6E7-A599-42D5-ABB1-016826C7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428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7EEF0"/>
          </a:solidFill>
          <a:ln xmlns:a="http://schemas.openxmlformats.org/drawingml/2006/main" w="9525">
            <a:solidFill>
              <a:srgbClr val="00968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715E2-3F26-4971-B703-53C6F2CE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051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Antenna</a:t>
            </a:r>
          </a:p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(transmitter)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1EAD4-C627-48EE-9CA7-A07EF002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428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7EEF0"/>
          </a:solidFill>
          <a:ln xmlns:a="http://schemas.openxmlformats.org/drawingml/2006/main" w="9525">
            <a:solidFill>
              <a:srgbClr val="0096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A5FC2-7264-43A6-BEAC-D221568D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Antenna</a:t>
            </a:r>
          </a:p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(receiver)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A1834-9A1E-4F6B-B636-FB23A487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95650"/>
            <a:ext cx="7143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5E"/>
          </a:solidFill>
          <a:ln xmlns:a="http://schemas.openxmlformats.org/drawingml/2006/main" w="9525">
            <a:solidFill>
              <a:srgbClr val="F5C4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C7987-FB1A-42D0-B7E7-80BE68C2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843C7-FF50-4E94-A864-5BEF6A49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4F335-F41F-4ECA-853D-A11BD5BC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432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24FFE-D5DC-41FC-8722-1037C161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99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A2FE0-F4AA-46BF-A473-B374F330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432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4B156-B94A-45B8-8101-ADBBA582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E5DFB-C92E-4389-8383-C2410925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F65F1-AF10-4F8A-8240-A2708CB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47E6"/>
                </a:solidFill>
              </a:defRPr>
            </a:pPr>
            <a:r>
              <a:rPr sz="1425" b="1">
                <a:solidFill>
                  <a:srgbClr val="1447E6"/>
                </a:solidFill>
              </a:rPr>
              <a:t>rainfall along the link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56751-D9A6-4B71-AEAC-70FA2B1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Measured attenuation constrains the average effect of rainfall along the entire path, not rainfall at one point.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5B337-6EBD-4808-8B7A-677C310D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2DFB5-E78B-450A-9A0C-7C6E8345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5328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8E4BFB-371A-45C0-8D77-44C7FA51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47E6"/>
                </a:solidFill>
              </a:defRPr>
            </a:pPr>
            <a:r>
              <a:rPr sz="1050" b="1">
                <a:solidFill>
                  <a:srgbClr val="1447E6"/>
                </a:solidFill>
              </a:rPr>
              <a:t>PHYSICAL BASIS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E3A37-118E-43C3-8A75-9DE79F8C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From rainfall to a measured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35C09-34A7-434C-80FE-48189957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B07A2-A5EE-44F9-87E0-C5E6765B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286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9BC2D-208F-4B1B-80E0-84C2EFFF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Rain rate R(x,y)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1C771-F791-4DD0-AD9F-0DE0B354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unknown 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13169-5D04-42B6-A6DA-7253EC0F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47E6"/>
                </a:solidFill>
              </a:defRPr>
            </a:pPr>
            <a:r>
              <a:rPr sz="2100" b="1">
                <a:solidFill>
                  <a:srgbClr val="1447E6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93F91-89F0-4661-A254-67645AB3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28875"/>
            <a:ext cx="2286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1909E-518A-414C-8900-28AFB035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813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Drop–wave interaction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91827-B466-42FF-A045-B88DD39F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frequency + polarization matter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2C549-37CA-4823-89D9-550B390F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048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47E6"/>
                </a:solidFill>
              </a:defRPr>
            </a:pPr>
            <a:r>
              <a:rPr sz="2100" b="1">
                <a:solidFill>
                  <a:srgbClr val="1447E6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85834-5F0B-455B-B4BA-88BF8C49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28875"/>
            <a:ext cx="2286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C5760-4A3D-41D5-9B64-C53BB0DE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Specific attenuation k(R)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EBE8D-B10E-4591-90A0-0C834C39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rain-induced signal 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7A107-0ADD-4DEF-8303-BA0710F0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47E6"/>
                </a:solidFill>
              </a:defRPr>
            </a:pPr>
            <a:r>
              <a:rPr sz="2100" b="1">
                <a:solidFill>
                  <a:srgbClr val="1447E6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F37E6-CFD3-4087-97B4-F618BF6B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286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5F4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5F427-6582-4D55-A3F0-7A383B3A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Path attenuation Aℓ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A694B-11A5-4900-B74D-2D5902BB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what the link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CAC3D-8FCB-4B11-B3A5-60ED9261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53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A common model uses a power law of the form  k = a R^b, with coefficients a and b determined by frequency and polarization.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3EA64-3D7C-4645-BE55-B24FD539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47E6"/>
                </a:solidFill>
              </a:defRPr>
            </a:pPr>
            <a:r>
              <a:rPr sz="1575" b="1">
                <a:solidFill>
                  <a:srgbClr val="1447E6"/>
                </a:solidFill>
              </a:rPr>
              <a:t>The forward model is known. The inverse problem is to recover R from Aℓ.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63A63-D8B0-415C-B40E-D84E8351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941D9-149C-44E0-8A6C-5FF313CA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9801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78E97-6974-439C-82E7-646DA317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47E6"/>
                </a:solidFill>
              </a:defRPr>
            </a:pPr>
            <a:r>
              <a:rPr sz="1050" b="1">
                <a:solidFill>
                  <a:srgbClr val="1447E6"/>
                </a:solidFill>
              </a:rPr>
              <a:t>INVERSE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540CA-51C1-436D-B088-45B0E8FB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The reconstruction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A08CE-68B8-4873-B340-D070C199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9C9A7-A40C-4028-8A1C-BFCA0BB8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556C"/>
                </a:solidFill>
              </a:defRPr>
            </a:pPr>
            <a:r>
              <a:rPr sz="1725" b="0">
                <a:solidFill>
                  <a:srgbClr val="45556C"/>
                </a:solidFill>
              </a:rPr>
              <a:t>Given a set of link measurements, estimate the rainfall field that best explains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B4B7E-BB46-4FC7-8965-5A99C457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95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45980-8CB3-406F-B4B6-76CBD3C1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47E6"/>
                </a:solidFill>
              </a:defRPr>
            </a:pPr>
            <a:r>
              <a:rPr sz="1350" b="1">
                <a:solidFill>
                  <a:srgbClr val="1447E6"/>
                </a:solidFill>
              </a:rPr>
              <a:t>Observed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A76CF-B03A-4AA8-AD03-E74CF045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attenuation measurements</a:t>
            </a:r>
          </a:p>
          <a:p xmlns:a="http://schemas.openxmlformats.org/drawingml/2006/main">
            <a:pPr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link geometry</a:t>
            </a:r>
          </a:p>
          <a:p xmlns:a="http://schemas.openxmlformats.org/drawingml/2006/main">
            <a:pPr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frequency and polarization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44B1E-8925-4105-90AE-5E96089F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47E6"/>
                </a:solidFill>
              </a:defRPr>
            </a:pPr>
            <a:r>
              <a:rPr sz="3300" b="1">
                <a:solidFill>
                  <a:srgbClr val="1447E6"/>
                </a:solidFill>
              </a:rPr>
              <a:t>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57BAE-A560-4816-9AD7-0FF2BD2E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50292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9B689-D489-4A81-8FDD-AA08175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8ED9D4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D9D4"/>
                </a:solidFill>
              </a:defRPr>
            </a:pPr>
            <a:r>
              <a:rPr sz="1350" b="1">
                <a:solidFill>
                  <a:srgbClr val="8ED9D4"/>
                </a:solidFill>
              </a:rPr>
              <a:t>Estimated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C9C60-5A12-4415-9E33-C70C849E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81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spatial rainfall field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that respects the physics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and the available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FB330-29BF-42B0-B272-DBF4781B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292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A key modeling choice: preserve each link as a path constraint instead of collapsing it to a virtual point gauge.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B9E89-E54A-4078-93F0-D6C68558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35D4B-1D43-4288-BC99-A4305183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4741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F804A-9F99-4A53-866B-943EE11F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47E6"/>
                </a:solidFill>
              </a:defRPr>
            </a:pPr>
            <a:r>
              <a:rPr sz="1050" b="1">
                <a:solidFill>
                  <a:srgbClr val="1447E6"/>
                </a:solidFill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BA3CF-53A9-469F-AA25-1C05DB25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Existing observations and their trade-offs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B1610-3A0F-4498-9402-BE062E1E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DB954-3476-473D-9898-E1ABB80E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47E6"/>
                </a:solidFill>
              </a:defRPr>
            </a:pPr>
            <a:r>
              <a:rPr sz="1275" b="1">
                <a:solidFill>
                  <a:srgbClr val="1447E6"/>
                </a:solidFill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67F44-3BE9-461E-9C53-3080F61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47E6"/>
                </a:solidFill>
              </a:defRPr>
            </a:pPr>
            <a:r>
              <a:rPr sz="1275" b="1">
                <a:solidFill>
                  <a:srgbClr val="1447E6"/>
                </a:solidFill>
              </a:rPr>
              <a:t>What it observes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9751B-C199-4E5A-85BD-C5CE1403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47E6"/>
                </a:solidFill>
              </a:defRPr>
            </a:pPr>
            <a:r>
              <a:rPr sz="1275" b="1">
                <a:solidFill>
                  <a:srgbClr val="1447E6"/>
                </a:solidFill>
              </a:rPr>
              <a:t>Strength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7BA6E-16E6-4B11-99D2-1EDC6316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47E6"/>
                </a:solidFill>
              </a:defRPr>
            </a:pPr>
            <a:r>
              <a:rPr sz="1275" b="1">
                <a:solidFill>
                  <a:srgbClr val="1447E6"/>
                </a:solidFill>
              </a:rPr>
              <a:t>Limitation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1E227-8FCF-449F-B871-AC9664F7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EBD76-FFA5-4ADD-91E0-E6AD09AA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Rain gauges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C1625-4FE3-4FB6-8639-03999B45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43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Point measurement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4485D-70D2-41F1-ABD4-11A96EDC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High local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A0D51-5B65-48B2-911C-10EEA2C8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Sparse and expensive to deploy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2B7FB-E02C-419E-9554-1A7F17D0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F1885-91E8-4EFF-BC6E-A1367E38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Weather radar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FE046-CF02-416C-8E90-1FCB43F6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433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Area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0B31C-3BBE-4422-8BEA-EE7C33D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Wide spatial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1B3AC-FC7C-444B-AEA3-EEB14CB8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433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Indirect estimate with known uncertainties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FEB90-045B-4E02-99C4-F57F1C0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28AAF-309D-4493-9724-B90C40AC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CML network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71DE7-9C0E-44C9-8D31-17ECAA82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43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Path-integrated 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95BCC-0348-4B82-B0D6-D43CCB42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Dense, near-ground, opportunistic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AAE70-5CD1-4A00-8240-40CC5D06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Inverse problem and signal confounders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71557-16A4-44DE-8843-AD893E4C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5312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447E6"/>
                </a:solidFill>
              </a:defRPr>
            </a:pPr>
            <a:r>
              <a:rPr sz="1650" b="1">
                <a:solidFill>
                  <a:srgbClr val="1447E6"/>
                </a:solidFill>
              </a:rPr>
              <a:t>CMLs complement existing instruments. They do not replace the need for gauges or radar.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16C336-2032-4D3A-AF19-80AF97C0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03775-C00F-4282-9E07-27ED042B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6295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B6A513-6E20-4F54-B733-45D6DF8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47E6"/>
                </a:solidFill>
              </a:defRPr>
            </a:pPr>
            <a:r>
              <a:rPr sz="1050" b="1">
                <a:solidFill>
                  <a:srgbClr val="1447E6"/>
                </a:solidFill>
              </a:rPr>
              <a:t>THESIS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F329A-F9ED-4B44-A04E-974FE53F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CMLs turn communication infrastructure into an opportunistic sensor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6393C-6631-413D-B7A4-748D9035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67F61-CA44-485B-997D-9E8D7F18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556C"/>
                </a:solidFill>
              </a:defRPr>
            </a:pPr>
            <a:r>
              <a:rPr sz="1725" b="0">
                <a:solidFill>
                  <a:srgbClr val="45556C"/>
                </a:solidFill>
              </a:rPr>
              <a:t>The infrastructure already exists. The scientific challenge is to interpret its signal.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6C1AD-95C5-4500-B215-C942754E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99139-2B55-455B-937F-02D30644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490D4-FBEF-4F1E-9AC2-7DDA81BE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86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B4A93-0ACB-4A24-BAC1-1EECE577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86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C1693-9B2E-4BA0-9034-988E14ED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86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77503-974F-4C5A-A396-6369EF25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A78D6-DC02-4BC8-9419-58109AFE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29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AF91F-DFB8-4DB5-BD6D-1DDFD226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29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9A5A0-6D40-4DF8-AB59-34A9C673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2912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F2747"/>
          </a:solidFill>
          <a:ln xmlns:a="http://schemas.openxmlformats.org/drawingml/2006/main" w="9525">
            <a:solidFill>
              <a:srgbClr val="0F27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C33B3-8F30-4B73-B76D-629B5FBC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398B8-3E25-4B4D-84AF-851BB0BC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448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FD84E-9E50-4894-B644-B5617747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48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57F25-7AB1-4BFE-85C7-E6396095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48EAC-AB75-4799-9621-A567F121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591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AFB15-44DA-4F1D-BCBA-0E093B7B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91050"/>
            <a:ext cx="1038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81C6D-E1F3-4ACC-B57A-000C2461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4480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8FE57-4839-4DC0-9C1F-3552EABE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480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B8E8"/>
          </a:solidFill>
          <a:ln xmlns:a="http://schemas.openxmlformats.org/drawingml/2006/main" w="9525">
            <a:solidFill>
              <a:srgbClr val="82B8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6ABB2A-497D-416F-B20C-284C2C08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95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47E6"/>
                </a:solidFill>
              </a:defRPr>
            </a:pPr>
            <a:r>
              <a:rPr sz="1350" b="1">
                <a:solidFill>
                  <a:srgbClr val="1447E6"/>
                </a:solidFill>
              </a:rPr>
              <a:t>existing link network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131547-9747-4791-9AF1-F0CD41F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447E6"/>
                </a:solidFill>
              </a:defRPr>
            </a:pPr>
            <a:r>
              <a:rPr sz="1800" b="1">
                <a:solidFill>
                  <a:srgbClr val="1447E6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0B753-3EDB-4CC3-BB69-52CB59CA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Many links sample near the ground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9FEF2A-0FB3-4C3A-9874-65B84588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447E6"/>
                </a:solidFill>
              </a:defRPr>
            </a:pPr>
            <a:r>
              <a:rPr sz="1800" b="1">
                <a:solidFill>
                  <a:srgbClr val="1447E6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63C57-215F-4BFB-AF69-A4948AB7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Coverage follows populated areas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60DCC-CCA8-42D1-A41C-D97CCA72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447E6"/>
                </a:solidFill>
              </a:defRPr>
            </a:pPr>
            <a:r>
              <a:rPr sz="1800" b="1">
                <a:solidFill>
                  <a:srgbClr val="1447E6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05DEAD-FEEB-4C78-938E-B82DFEB7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Measurements arrive as path integrals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8AC7F3-43B2-4F96-A008-57736DA8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447E6"/>
                </a:solidFill>
              </a:defRPr>
            </a:pPr>
            <a:r>
              <a:rPr sz="1800" b="1">
                <a:solidFill>
                  <a:srgbClr val="1447E6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84AD7C-3C20-4CD6-9871-B3AE7401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Network geometry shapes what can be reconstructed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BFB41-317E-48AE-A742-C8D6A28D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794F9-FDDB-4C33-AFF3-FBC22C58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05053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F4C49-E71E-4A8C-853A-53707FD9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47E6"/>
                </a:solidFill>
              </a:defRPr>
            </a:pPr>
            <a:r>
              <a:rPr sz="1050" b="1">
                <a:solidFill>
                  <a:srgbClr val="1447E6"/>
                </a:solidFill>
              </a:rPr>
              <a:t>LITERATURE THREAD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096DD-5710-4CD3-A337-DDDE0617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A brief history of rainfall sensing with microwave 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D3A5A-9584-4DE3-9D5B-2FDA1FE2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C8484-B605-4E41-8C7C-514C6A1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556C"/>
                </a:solidFill>
              </a:defRPr>
            </a:pPr>
            <a:r>
              <a:rPr sz="1725" b="0">
                <a:solidFill>
                  <a:srgbClr val="45556C"/>
                </a:solidFill>
              </a:rPr>
              <a:t>The historical arc to verify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AE9FB-9735-47EC-A034-649032C5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14312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4F4A4-06CB-4356-8EEC-E2D07FB9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95072-FC2A-4E92-86D8-19072184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Early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4436D-9A26-4802-BAC7-6CDCADBA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Rain-induced microwave attenuation studied for communication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8626D-293C-4DC2-B2E0-5E4B741F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76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447E6"/>
                </a:solidFill>
              </a:defRPr>
            </a:pPr>
            <a:r>
              <a:rPr sz="1800" b="1">
                <a:solidFill>
                  <a:srgbClr val="1447E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B4DC-186E-44C6-84B0-1E6E813D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57500"/>
            <a:ext cx="214312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5F4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2EBF2-FDA6-4413-B664-AABACC61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57500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F1683-FB5D-402D-88CB-485C0FC3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81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Power-law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F30CB-69DE-48F8-8717-9C71C354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385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Rain rate linked to specific attenuation through frequency- and polarization-dependent coefficients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0EC89-1006-4060-A48C-08FC6E37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76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447E6"/>
                </a:solidFill>
              </a:defRPr>
            </a:pPr>
            <a:r>
              <a:rPr sz="1800" b="1">
                <a:solidFill>
                  <a:srgbClr val="1447E6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EAB34-7D25-429E-803C-7065D7DD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14312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150EE-28D3-4BD9-8150-06D3BDE1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AAA97-4613-4A38-8589-9541C2DB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Dedicated links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5B841-6B63-4A23-8752-8E70EC74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Researchers tested microwave links as rainfall sensors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C8D6D-5356-4943-A6AA-F3186D54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447E6"/>
                </a:solidFill>
              </a:defRPr>
            </a:pPr>
            <a:r>
              <a:rPr sz="1800" b="1">
                <a:solidFill>
                  <a:srgbClr val="1447E6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220DA-F981-4A08-8227-959CA56C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57500"/>
            <a:ext cx="214312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72B6C-D96C-4849-880B-C9D77B2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57500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F5C69-2CE7-4E71-8BE1-715F79C8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81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8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Rain-field reconstruction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D7B45-4B06-475E-A433-BA53A075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385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Methods began using networks of links to infer spatial rainfall fields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A8EFB-BF46-42D0-B474-F2365B7A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447E6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47E6"/>
                </a:solidFill>
              </a:defRPr>
            </a:pPr>
            <a:r>
              <a:rPr sz="1500" b="1">
                <a:solidFill>
                  <a:srgbClr val="1447E6"/>
                </a:solidFill>
              </a:rPr>
              <a:t>Candidate milestones: pre-1978 attenuation studies · Olsen et al. (1978) · early field reconstruction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9DB0FB-BA5F-44CC-A8A7-6FC2FE72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10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Dates and citations are placeholders for the next pass.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B53540-7E22-4A34-8FB6-E32AC99F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45556C"/>
                </a:solidFill>
              </a:defRPr>
            </a:pPr>
            <a:r>
              <a:rPr sz="900" b="0">
                <a:solidFill>
                  <a:srgbClr val="45556C"/>
                </a:solidFill>
              </a:rPr>
              <a:t>Optimization-based precipitation estimation from commercial microwave links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714AF-E3E5-43EC-86E7-A154A14D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5556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45556C"/>
                </a:solidFill>
              </a:defRPr>
            </a:pPr>
            <a:r>
              <a:rPr sz="900" b="1">
                <a:solidFill>
                  <a:srgbClr val="4555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802870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D7221-881F-4802-88F0-D1D9EFDA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8ED9D4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ED9D4"/>
                </a:solidFill>
              </a:defRPr>
            </a:pPr>
            <a:r>
              <a:rPr sz="1125" b="1">
                <a:solidFill>
                  <a:srgbClr val="8ED9D4"/>
                </a:solidFill>
              </a:rPr>
              <a:t>THE THESIS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A2448-E1C0-47E6-97C5-4A6591B2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How can we reconstruct rainfall fields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from path-integrated CML measurements?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F4A6B-BF10-487F-AB64-6D642A94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9E6F2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9E6F2"/>
                </a:solidFill>
              </a:defRPr>
            </a:pPr>
            <a:r>
              <a:rPr sz="1875" b="0">
                <a:solidFill>
                  <a:srgbClr val="D9E6F2"/>
                </a:solidFill>
              </a:rPr>
              <a:t>This thesis treats the task as a physics-informed optimization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9B2EE-12BC-495D-B1C0-685DAE74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BAC2C-7B23-48F9-A148-FB13E04C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Next: formulation, benchmark construction, optimization methods, and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D0DD5-21FE-4DEB-A336-0106FBD4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ED9D4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8ED9D4"/>
                </a:solidFill>
              </a:defRPr>
            </a:pPr>
            <a:r>
              <a:rPr sz="1050" b="0">
                <a:solidFill>
                  <a:srgbClr val="8ED9D4"/>
                </a:solidFill>
              </a:rPr>
              <a:t>Working deck · v1</a:t>
            </a:r>
          </a:p>
        </p:txBody>
      </p:sp>
    </p:spTree>
    <p:extLst>
      <p:ext uri="{BB962C8B-B14F-4D97-AF65-F5344CB8AC3E}">
        <p14:creationId xmlns:p14="http://schemas.microsoft.com/office/powerpoint/2010/main" val="1582301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2026-10-07T01:11:09.3820000Z</dcterms:created>
  <dcterms:modified xsi:type="dcterms:W3CDTF">2026-10-07T01:11:09.3820000Z</dcterms:modified>
</coreProperties>
</file>